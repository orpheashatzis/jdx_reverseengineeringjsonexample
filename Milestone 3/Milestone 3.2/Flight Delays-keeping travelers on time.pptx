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9" r:id="rId4"/>
    <p:sldId id="260" r:id="rId5"/>
    <p:sldId id="261" r:id="rId6"/>
    <p:sldId id="266" r:id="rId7"/>
    <p:sldId id="262" r:id="rId8"/>
    <p:sldId id="263" r:id="rId9"/>
    <p:sldId id="264" r:id="rId10"/>
    <p:sldId id="265"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18" d="100"/>
          <a:sy n="118" d="100"/>
        </p:scale>
        <p:origin x="1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3CBD4E-C008-43B6-81B5-04BAA81CE015}" type="datetimeFigureOut">
              <a:rPr lang="en-US" smtClean="0"/>
              <a:t>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B1949-F2E0-4FCB-8E32-D0BA9B94A992}" type="slidenum">
              <a:rPr lang="en-US" smtClean="0"/>
              <a:t>‹#›</a:t>
            </a:fld>
            <a:endParaRPr lang="en-US"/>
          </a:p>
        </p:txBody>
      </p:sp>
    </p:spTree>
    <p:extLst>
      <p:ext uri="{BB962C8B-B14F-4D97-AF65-F5344CB8AC3E}">
        <p14:creationId xmlns:p14="http://schemas.microsoft.com/office/powerpoint/2010/main" val="3680343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EF4C4-6C48-9E46-3239-1247D7AFBC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9D29D5-5583-1843-4664-ABBA00BFBE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1E19B5-0A5D-0C73-28DB-396BA2CF69B5}"/>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5" name="Footer Placeholder 4">
            <a:extLst>
              <a:ext uri="{FF2B5EF4-FFF2-40B4-BE49-F238E27FC236}">
                <a16:creationId xmlns:a16="http://schemas.microsoft.com/office/drawing/2014/main" id="{28BC5C41-B455-AED6-52E0-C4BF0562ED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166C4-6805-2685-2057-D0EEB80ACEA8}"/>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2939897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8B32-B9CC-44FC-5F4A-95CB1B6532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71E13C-842D-7739-0390-494BB0AF16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0DEFBF-070D-849E-5AAA-A6509FC86C53}"/>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5" name="Footer Placeholder 4">
            <a:extLst>
              <a:ext uri="{FF2B5EF4-FFF2-40B4-BE49-F238E27FC236}">
                <a16:creationId xmlns:a16="http://schemas.microsoft.com/office/drawing/2014/main" id="{3F6B31A2-43AC-1472-D061-5DCB511A9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29D987-218E-E659-631D-A7B9C1980EF5}"/>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1754488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FB0D7-CE13-349C-48BB-56E6DD0919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D3113A-CBC9-A7FF-82C7-2D40791486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D29F58-677F-0A10-A99B-84A9F9CAE11A}"/>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5" name="Footer Placeholder 4">
            <a:extLst>
              <a:ext uri="{FF2B5EF4-FFF2-40B4-BE49-F238E27FC236}">
                <a16:creationId xmlns:a16="http://schemas.microsoft.com/office/drawing/2014/main" id="{FC4E9D83-D346-B393-2757-FF5D49577A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BBC43A-6B63-CAF7-5B30-143197F111DF}"/>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3697530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495C3-2248-66A6-9C8D-EDB13C690F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4D661C-D320-4A59-9527-0915811700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92BF7-1292-5D3B-A763-A3EB9EFC79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4A8912-8BC8-8CFA-0B0D-FB91D75CDDFA}"/>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6" name="Footer Placeholder 5">
            <a:extLst>
              <a:ext uri="{FF2B5EF4-FFF2-40B4-BE49-F238E27FC236}">
                <a16:creationId xmlns:a16="http://schemas.microsoft.com/office/drawing/2014/main" id="{596369A1-4B6E-B49A-444D-1DBD262140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FAC6AE-4DAB-B0DC-0325-540F1FB63BE6}"/>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3889418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A6F6F-4686-798D-E518-9AEF0BC08B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41AD32-A6C2-B408-4B1C-299A47D43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13A19B-5728-EA45-E5BE-BFE80B5CEF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6DD08-86B2-9616-CA8E-49AA64013E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A27E0B-0053-AC0D-91EF-AA6F186C9B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05E32-7960-2881-6243-217EF17FD2A4}"/>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8" name="Footer Placeholder 7">
            <a:extLst>
              <a:ext uri="{FF2B5EF4-FFF2-40B4-BE49-F238E27FC236}">
                <a16:creationId xmlns:a16="http://schemas.microsoft.com/office/drawing/2014/main" id="{A553A9B3-4259-3C80-4C70-32464BAD65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6FBF48-61E2-5396-861A-FA2130081B1A}"/>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625467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BEDAF-70B7-8247-DD38-6C77CCD573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CCA24C-F33A-6B3F-7054-92AB72C83CE5}"/>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4" name="Footer Placeholder 3">
            <a:extLst>
              <a:ext uri="{FF2B5EF4-FFF2-40B4-BE49-F238E27FC236}">
                <a16:creationId xmlns:a16="http://schemas.microsoft.com/office/drawing/2014/main" id="{A8A57DD0-7C57-6B83-9E20-D310FE1CA7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C681DF-00EF-C3D3-8EAF-082845029C7D}"/>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3582858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B53F99-EA4E-8115-F947-BC1948AC41E9}"/>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3" name="Footer Placeholder 2">
            <a:extLst>
              <a:ext uri="{FF2B5EF4-FFF2-40B4-BE49-F238E27FC236}">
                <a16:creationId xmlns:a16="http://schemas.microsoft.com/office/drawing/2014/main" id="{372037D0-E521-9350-6AF0-DAF254A8E4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4D784D-E78A-09F3-C7D1-8E89C910B274}"/>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2838807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ECF3D-0A4E-58AE-79FF-42C8B05917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059034-3A1C-1B0D-5F9C-19759BF0D8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0680F4-347B-C83D-BD22-CF9B5C29DF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F991F0-1111-3C8D-8F88-786828EC4FCF}"/>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6" name="Footer Placeholder 5">
            <a:extLst>
              <a:ext uri="{FF2B5EF4-FFF2-40B4-BE49-F238E27FC236}">
                <a16:creationId xmlns:a16="http://schemas.microsoft.com/office/drawing/2014/main" id="{A37A8664-331E-AD58-2C03-F0904362E1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3B5194-F40E-3D71-420D-A96FB49D9036}"/>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1799333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EC6E-6D58-1201-0107-FE6E1F1CF2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3B2CD0-0AD9-459A-48F8-7B28F58F0C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9EA689-34D9-557C-4DB2-3283EC0709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BD126-4BCA-AC7D-3242-6E6AF59DD3A6}"/>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6" name="Footer Placeholder 5">
            <a:extLst>
              <a:ext uri="{FF2B5EF4-FFF2-40B4-BE49-F238E27FC236}">
                <a16:creationId xmlns:a16="http://schemas.microsoft.com/office/drawing/2014/main" id="{E4F62813-94CE-B977-E5E5-79FAD3C52C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94814F-9A83-A077-928A-564110EE7B0E}"/>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658699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5A087-95BB-AAE0-E82A-19C8478ED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C244A9-D82D-7FD2-4C31-DF02F94031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9722C0-6EA5-C24E-82D5-9A8B52C663DA}"/>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5" name="Footer Placeholder 4">
            <a:extLst>
              <a:ext uri="{FF2B5EF4-FFF2-40B4-BE49-F238E27FC236}">
                <a16:creationId xmlns:a16="http://schemas.microsoft.com/office/drawing/2014/main" id="{215CF76E-AA5C-9285-6DF5-E0451859B9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97B4C5-77D5-26C1-38EC-3C21DCB8A19E}"/>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2350575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89C77D-6909-5D30-C4E3-49541EB61E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7E3AFF-9C04-C4A6-604F-B81B478B79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80E080-3EBD-DBF1-E0BB-5E14CA7FBB78}"/>
              </a:ext>
            </a:extLst>
          </p:cNvPr>
          <p:cNvSpPr>
            <a:spLocks noGrp="1"/>
          </p:cNvSpPr>
          <p:nvPr>
            <p:ph type="dt" sz="half" idx="10"/>
          </p:nvPr>
        </p:nvSpPr>
        <p:spPr/>
        <p:txBody>
          <a:bodyPr/>
          <a:lstStyle/>
          <a:p>
            <a:fld id="{580E0701-B630-4949-8A21-ADAA5EEC7849}" type="datetimeFigureOut">
              <a:rPr lang="en-US" smtClean="0"/>
              <a:t>2/19/2025</a:t>
            </a:fld>
            <a:endParaRPr lang="en-US"/>
          </a:p>
        </p:txBody>
      </p:sp>
      <p:sp>
        <p:nvSpPr>
          <p:cNvPr id="5" name="Footer Placeholder 4">
            <a:extLst>
              <a:ext uri="{FF2B5EF4-FFF2-40B4-BE49-F238E27FC236}">
                <a16:creationId xmlns:a16="http://schemas.microsoft.com/office/drawing/2014/main" id="{13159CCB-D061-0F1E-3C4F-C42D06B0F7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5AA6BD-D590-B7C8-F46F-93D44A4A2C4E}"/>
              </a:ext>
            </a:extLst>
          </p:cNvPr>
          <p:cNvSpPr>
            <a:spLocks noGrp="1"/>
          </p:cNvSpPr>
          <p:nvPr>
            <p:ph type="sldNum" sz="quarter" idx="12"/>
          </p:nvPr>
        </p:nvSpPr>
        <p:spPr/>
        <p:txBody>
          <a:bodyPr/>
          <a:lstStyle/>
          <a:p>
            <a:fld id="{5CA58CD8-7833-40B1-B956-45A87040624B}" type="slidenum">
              <a:rPr lang="en-US" smtClean="0"/>
              <a:t>‹#›</a:t>
            </a:fld>
            <a:endParaRPr lang="en-US"/>
          </a:p>
        </p:txBody>
      </p:sp>
    </p:spTree>
    <p:extLst>
      <p:ext uri="{BB962C8B-B14F-4D97-AF65-F5344CB8AC3E}">
        <p14:creationId xmlns:p14="http://schemas.microsoft.com/office/powerpoint/2010/main" val="1990004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5B21B7-0B87-441D-6498-E6689EAB4C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90598-4E56-747D-78D1-695BD4E8C3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0D4F5-D897-8355-C8AF-40EC04EB22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0E0701-B630-4949-8A21-ADAA5EEC7849}" type="datetimeFigureOut">
              <a:rPr lang="en-US" smtClean="0"/>
              <a:t>2/19/2025</a:t>
            </a:fld>
            <a:endParaRPr lang="en-US"/>
          </a:p>
        </p:txBody>
      </p:sp>
      <p:sp>
        <p:nvSpPr>
          <p:cNvPr id="5" name="Footer Placeholder 4">
            <a:extLst>
              <a:ext uri="{FF2B5EF4-FFF2-40B4-BE49-F238E27FC236}">
                <a16:creationId xmlns:a16="http://schemas.microsoft.com/office/drawing/2014/main" id="{00B31E24-CE3B-6E12-75E8-AE82E919F8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F62D509-1209-8119-70A3-6F6FCEB693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A58CD8-7833-40B1-B956-45A87040624B}" type="slidenum">
              <a:rPr lang="en-US" smtClean="0"/>
              <a:t>‹#›</a:t>
            </a:fld>
            <a:endParaRPr lang="en-US"/>
          </a:p>
        </p:txBody>
      </p:sp>
    </p:spTree>
    <p:extLst>
      <p:ext uri="{BB962C8B-B14F-4D97-AF65-F5344CB8AC3E}">
        <p14:creationId xmlns:p14="http://schemas.microsoft.com/office/powerpoint/2010/main" val="2222476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CE7249F0-3530-3DBD-87B8-0346A92F580C}"/>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t="16668" b="27082"/>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5CAE343-B96E-D97D-AC81-4A9AFD307A28}"/>
              </a:ext>
            </a:extLst>
          </p:cNvPr>
          <p:cNvSpPr>
            <a:spLocks noGrp="1"/>
          </p:cNvSpPr>
          <p:nvPr>
            <p:ph type="ctrTitle"/>
          </p:nvPr>
        </p:nvSpPr>
        <p:spPr>
          <a:xfrm>
            <a:off x="1524000" y="1122362"/>
            <a:ext cx="9144000" cy="2900518"/>
          </a:xfrm>
        </p:spPr>
        <p:txBody>
          <a:bodyPr>
            <a:normAutofit/>
          </a:bodyPr>
          <a:lstStyle/>
          <a:p>
            <a:r>
              <a:rPr lang="en-US" dirty="0">
                <a:solidFill>
                  <a:srgbClr val="FFFFFF"/>
                </a:solidFill>
              </a:rPr>
              <a:t>Flight Delays-</a:t>
            </a:r>
            <a:r>
              <a:rPr lang="en-US" sz="4800" dirty="0">
                <a:solidFill>
                  <a:srgbClr val="FFFFFF"/>
                </a:solidFill>
              </a:rPr>
              <a:t>keeping travelers on time</a:t>
            </a:r>
            <a:endParaRPr lang="en-US" dirty="0">
              <a:solidFill>
                <a:srgbClr val="FFFFFF"/>
              </a:solidFill>
            </a:endParaRPr>
          </a:p>
        </p:txBody>
      </p:sp>
      <p:sp>
        <p:nvSpPr>
          <p:cNvPr id="3" name="Subtitle 2">
            <a:extLst>
              <a:ext uri="{FF2B5EF4-FFF2-40B4-BE49-F238E27FC236}">
                <a16:creationId xmlns:a16="http://schemas.microsoft.com/office/drawing/2014/main" id="{BD1AFC3E-7813-7A9B-29A4-53299F57864F}"/>
              </a:ext>
            </a:extLst>
          </p:cNvPr>
          <p:cNvSpPr>
            <a:spLocks noGrp="1"/>
          </p:cNvSpPr>
          <p:nvPr>
            <p:ph type="subTitle" idx="1"/>
          </p:nvPr>
        </p:nvSpPr>
        <p:spPr>
          <a:xfrm>
            <a:off x="1524000" y="4159404"/>
            <a:ext cx="9144000" cy="1098395"/>
          </a:xfrm>
        </p:spPr>
        <p:txBody>
          <a:bodyPr>
            <a:normAutofit/>
          </a:bodyPr>
          <a:lstStyle/>
          <a:p>
            <a:r>
              <a:rPr lang="en-US" dirty="0">
                <a:solidFill>
                  <a:srgbClr val="FFFFFF"/>
                </a:solidFill>
              </a:rPr>
              <a:t>Milestone 3.2</a:t>
            </a:r>
          </a:p>
          <a:p>
            <a:r>
              <a:rPr lang="en-US" dirty="0">
                <a:solidFill>
                  <a:srgbClr val="FFFFFF"/>
                </a:solidFill>
              </a:rPr>
              <a:t>By Orpheas, Marco and Adam</a:t>
            </a:r>
          </a:p>
        </p:txBody>
      </p:sp>
    </p:spTree>
    <p:extLst>
      <p:ext uri="{BB962C8B-B14F-4D97-AF65-F5344CB8AC3E}">
        <p14:creationId xmlns:p14="http://schemas.microsoft.com/office/powerpoint/2010/main" val="401825211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Freeform: Shape 205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3633DA9-E01C-E8D4-81B6-AFDE6654C92A}"/>
              </a:ext>
            </a:extLst>
          </p:cNvPr>
          <p:cNvSpPr>
            <a:spLocks noGrp="1"/>
          </p:cNvSpPr>
          <p:nvPr>
            <p:ph type="title"/>
          </p:nvPr>
        </p:nvSpPr>
        <p:spPr>
          <a:xfrm>
            <a:off x="1137034" y="609597"/>
            <a:ext cx="9392421" cy="1330841"/>
          </a:xfrm>
        </p:spPr>
        <p:txBody>
          <a:bodyPr>
            <a:normAutofit/>
          </a:bodyPr>
          <a:lstStyle/>
          <a:p>
            <a:r>
              <a:rPr lang="en-US" dirty="0"/>
              <a:t>The Problem we are trying to solve</a:t>
            </a:r>
          </a:p>
        </p:txBody>
      </p:sp>
      <p:sp>
        <p:nvSpPr>
          <p:cNvPr id="3" name="Content Placeholder 2">
            <a:extLst>
              <a:ext uri="{FF2B5EF4-FFF2-40B4-BE49-F238E27FC236}">
                <a16:creationId xmlns:a16="http://schemas.microsoft.com/office/drawing/2014/main" id="{EA53554D-1B30-7D8A-47B8-3CC60166FFBD}"/>
              </a:ext>
            </a:extLst>
          </p:cNvPr>
          <p:cNvSpPr>
            <a:spLocks noGrp="1"/>
          </p:cNvSpPr>
          <p:nvPr>
            <p:ph idx="1"/>
          </p:nvPr>
        </p:nvSpPr>
        <p:spPr>
          <a:xfrm>
            <a:off x="1137034" y="2198362"/>
            <a:ext cx="4958966" cy="3917773"/>
          </a:xfrm>
        </p:spPr>
        <p:txBody>
          <a:bodyPr>
            <a:normAutofit/>
          </a:bodyPr>
          <a:lstStyle/>
          <a:p>
            <a:r>
              <a:rPr lang="en-US" sz="1400"/>
              <a:t>Through this project we aim to solve a problem faced by thousands per day – FLIGHT DELAYS</a:t>
            </a:r>
          </a:p>
          <a:p>
            <a:r>
              <a:rPr lang="en-US" sz="1400"/>
              <a:t>This problem has affected all three of us and most definitely you to, therefore we would like to find a possible solution to aid in this issue</a:t>
            </a:r>
          </a:p>
          <a:p>
            <a:r>
              <a:rPr lang="en-US" sz="1400"/>
              <a:t>Flight delays may seem minor at first but if we look into a problem as such, the severity can be clearly seen</a:t>
            </a:r>
          </a:p>
          <a:p>
            <a:r>
              <a:rPr lang="en-US" sz="1400"/>
              <a:t>Flight delays lead to:</a:t>
            </a:r>
          </a:p>
          <a:p>
            <a:pPr marL="514350" indent="-514350">
              <a:buFont typeface="+mj-lt"/>
              <a:buAutoNum type="arabicPeriod"/>
            </a:pPr>
            <a:r>
              <a:rPr lang="en-US" sz="1400"/>
              <a:t>Passenger frustration – affect schedules (connecting flights, plans etc.) and causes inconvenience </a:t>
            </a:r>
          </a:p>
          <a:p>
            <a:pPr marL="514350" indent="-514350">
              <a:buFont typeface="+mj-lt"/>
              <a:buAutoNum type="arabicPeriod"/>
            </a:pPr>
            <a:r>
              <a:rPr lang="en-US" sz="1400"/>
              <a:t>Economic impact – cost to airlines, passengers and businesses</a:t>
            </a:r>
          </a:p>
          <a:p>
            <a:pPr marL="514350" indent="-514350">
              <a:buFont typeface="+mj-lt"/>
              <a:buAutoNum type="arabicPeriod"/>
            </a:pPr>
            <a:r>
              <a:rPr lang="en-US" sz="1400"/>
              <a:t>Uncertainty in travels plans -  ruins a schedule, makes it difficult to plan</a:t>
            </a:r>
          </a:p>
          <a:p>
            <a:endParaRPr lang="en-US" sz="1400"/>
          </a:p>
          <a:p>
            <a:endParaRPr lang="en-US" sz="1400"/>
          </a:p>
          <a:p>
            <a:endParaRPr lang="en-US" sz="1400"/>
          </a:p>
          <a:p>
            <a:endParaRPr lang="en-US" sz="1400"/>
          </a:p>
          <a:p>
            <a:endParaRPr lang="en-US" sz="1400"/>
          </a:p>
          <a:p>
            <a:endParaRPr lang="en-US" sz="1400"/>
          </a:p>
          <a:p>
            <a:endParaRPr lang="en-US" sz="1400"/>
          </a:p>
        </p:txBody>
      </p:sp>
      <p:pic>
        <p:nvPicPr>
          <p:cNvPr id="2050" name="Picture 2">
            <a:extLst>
              <a:ext uri="{FF2B5EF4-FFF2-40B4-BE49-F238E27FC236}">
                <a16:creationId xmlns:a16="http://schemas.microsoft.com/office/drawing/2014/main" id="{D611C8AA-59D6-5700-2A3F-C1F506B5665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19367" y="2252784"/>
            <a:ext cx="4788505" cy="3620175"/>
          </a:xfrm>
          <a:prstGeom prst="rect">
            <a:avLst/>
          </a:prstGeom>
          <a:noFill/>
          <a:extLst>
            <a:ext uri="{909E8E84-426E-40DD-AFC4-6F175D3DCCD1}">
              <a14:hiddenFill xmlns:a14="http://schemas.microsoft.com/office/drawing/2010/main">
                <a:solidFill>
                  <a:srgbClr val="FFFFFF"/>
                </a:solidFill>
              </a14:hiddenFill>
            </a:ext>
          </a:extLst>
        </p:spPr>
      </p:pic>
      <p:sp>
        <p:nvSpPr>
          <p:cNvPr id="2059" name="Freeform: Shape 205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36054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27CAF4-19DA-36C5-8A7B-8C16FF05B74B}"/>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Freeform: Shape 205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C69E40C-9E10-17AF-862D-383B428041E1}"/>
              </a:ext>
            </a:extLst>
          </p:cNvPr>
          <p:cNvSpPr>
            <a:spLocks noGrp="1"/>
          </p:cNvSpPr>
          <p:nvPr>
            <p:ph type="title"/>
          </p:nvPr>
        </p:nvSpPr>
        <p:spPr>
          <a:xfrm>
            <a:off x="1137034" y="609597"/>
            <a:ext cx="9392421" cy="1330841"/>
          </a:xfrm>
        </p:spPr>
        <p:txBody>
          <a:bodyPr>
            <a:normAutofit/>
          </a:bodyPr>
          <a:lstStyle/>
          <a:p>
            <a:r>
              <a:rPr lang="en-US" dirty="0"/>
              <a:t>The Problem we are trying to solve</a:t>
            </a:r>
          </a:p>
        </p:txBody>
      </p:sp>
      <p:sp>
        <p:nvSpPr>
          <p:cNvPr id="3" name="Content Placeholder 2">
            <a:extLst>
              <a:ext uri="{FF2B5EF4-FFF2-40B4-BE49-F238E27FC236}">
                <a16:creationId xmlns:a16="http://schemas.microsoft.com/office/drawing/2014/main" id="{177CD228-7EFE-9D7F-7AA3-BC27BFB2D9DF}"/>
              </a:ext>
            </a:extLst>
          </p:cNvPr>
          <p:cNvSpPr>
            <a:spLocks noGrp="1"/>
          </p:cNvSpPr>
          <p:nvPr>
            <p:ph idx="1"/>
          </p:nvPr>
        </p:nvSpPr>
        <p:spPr>
          <a:xfrm>
            <a:off x="1137034" y="2198362"/>
            <a:ext cx="4958966" cy="3917773"/>
          </a:xfrm>
        </p:spPr>
        <p:txBody>
          <a:bodyPr>
            <a:normAutofit/>
          </a:bodyPr>
          <a:lstStyle/>
          <a:p>
            <a:endParaRPr lang="en-US" sz="2000"/>
          </a:p>
          <a:p>
            <a:endParaRPr lang="en-US" sz="2000"/>
          </a:p>
          <a:p>
            <a:r>
              <a:rPr lang="en-US" sz="2000"/>
              <a:t>We hope to find any correlations through the data from the causes which will be able to give us answers and solutions to help aid in the minimization of global delays in airports and the cost that comes with it.</a:t>
            </a:r>
          </a:p>
          <a:p>
            <a:r>
              <a:rPr lang="en-US" sz="2000"/>
              <a:t>Our aim is to analyze historical flight data to identify patterns and predict the likelihood of a flight being delayed as well as the reasons for this delay.</a:t>
            </a:r>
          </a:p>
          <a:p>
            <a:endParaRPr lang="en-US" sz="2000"/>
          </a:p>
          <a:p>
            <a:endParaRPr lang="en-US" sz="2000"/>
          </a:p>
          <a:p>
            <a:endParaRPr lang="en-US" sz="2000"/>
          </a:p>
          <a:p>
            <a:endParaRPr lang="en-US" sz="2000"/>
          </a:p>
          <a:p>
            <a:endParaRPr lang="en-US" sz="2000"/>
          </a:p>
          <a:p>
            <a:endParaRPr lang="en-US" sz="2000"/>
          </a:p>
        </p:txBody>
      </p:sp>
      <p:pic>
        <p:nvPicPr>
          <p:cNvPr id="2050" name="Picture 2">
            <a:extLst>
              <a:ext uri="{FF2B5EF4-FFF2-40B4-BE49-F238E27FC236}">
                <a16:creationId xmlns:a16="http://schemas.microsoft.com/office/drawing/2014/main" id="{49826B56-A722-C737-2D6B-4E02ED4A910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19367" y="2252784"/>
            <a:ext cx="4788505" cy="3620175"/>
          </a:xfrm>
          <a:prstGeom prst="rect">
            <a:avLst/>
          </a:prstGeom>
          <a:noFill/>
          <a:extLst>
            <a:ext uri="{909E8E84-426E-40DD-AFC4-6F175D3DCCD1}">
              <a14:hiddenFill xmlns:a14="http://schemas.microsoft.com/office/drawing/2010/main">
                <a:solidFill>
                  <a:srgbClr val="FFFFFF"/>
                </a:solidFill>
              </a14:hiddenFill>
            </a:ext>
          </a:extLst>
        </p:spPr>
      </p:pic>
      <p:sp>
        <p:nvSpPr>
          <p:cNvPr id="2059" name="Freeform: Shape 205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49038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8" name="Rectangle 27">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4D8097-E5A3-73AA-316D-E2D63D404BF7}"/>
              </a:ext>
            </a:extLst>
          </p:cNvPr>
          <p:cNvSpPr>
            <a:spLocks noGrp="1"/>
          </p:cNvSpPr>
          <p:nvPr>
            <p:ph type="title"/>
          </p:nvPr>
        </p:nvSpPr>
        <p:spPr>
          <a:xfrm>
            <a:off x="761803" y="350196"/>
            <a:ext cx="4646904" cy="1624520"/>
          </a:xfrm>
        </p:spPr>
        <p:txBody>
          <a:bodyPr anchor="ctr">
            <a:normAutofit/>
          </a:bodyPr>
          <a:lstStyle/>
          <a:p>
            <a:r>
              <a:rPr lang="en-US" sz="4000" dirty="0"/>
              <a:t>Our Data – Key Plots-What We Learnt</a:t>
            </a:r>
          </a:p>
        </p:txBody>
      </p:sp>
      <p:sp>
        <p:nvSpPr>
          <p:cNvPr id="3" name="Content Placeholder 2">
            <a:extLst>
              <a:ext uri="{FF2B5EF4-FFF2-40B4-BE49-F238E27FC236}">
                <a16:creationId xmlns:a16="http://schemas.microsoft.com/office/drawing/2014/main" id="{7D0F40A7-6268-AC98-9005-3C0C65159739}"/>
              </a:ext>
            </a:extLst>
          </p:cNvPr>
          <p:cNvSpPr>
            <a:spLocks noGrp="1"/>
          </p:cNvSpPr>
          <p:nvPr>
            <p:ph idx="1"/>
          </p:nvPr>
        </p:nvSpPr>
        <p:spPr>
          <a:xfrm>
            <a:off x="761802" y="2743200"/>
            <a:ext cx="4646905" cy="3613149"/>
          </a:xfrm>
        </p:spPr>
        <p:txBody>
          <a:bodyPr anchor="ctr">
            <a:normAutofit/>
          </a:bodyPr>
          <a:lstStyle/>
          <a:p>
            <a:r>
              <a:rPr lang="en-US" sz="2000" dirty="0"/>
              <a:t>After importing, reading the data and checking for any missing values and duplicates we created bar plots of the busiest and least busy airports through their airport codes (“Origin”) and the number of flights that they had in the specific year of the data.</a:t>
            </a:r>
          </a:p>
          <a:p>
            <a:r>
              <a:rPr lang="en-US" sz="2000" dirty="0"/>
              <a:t>We made this plot to get a visualization of the airports with the highest activity which will come in handy later</a:t>
            </a:r>
          </a:p>
        </p:txBody>
      </p:sp>
      <p:pic>
        <p:nvPicPr>
          <p:cNvPr id="22" name="Picture 21" descr="Planes on an airport">
            <a:extLst>
              <a:ext uri="{FF2B5EF4-FFF2-40B4-BE49-F238E27FC236}">
                <a16:creationId xmlns:a16="http://schemas.microsoft.com/office/drawing/2014/main" id="{02E97660-BDAD-4209-1C11-5E008F928BF4}"/>
              </a:ext>
            </a:extLst>
          </p:cNvPr>
          <p:cNvPicPr>
            <a:picLocks noChangeAspect="1"/>
          </p:cNvPicPr>
          <p:nvPr/>
        </p:nvPicPr>
        <p:blipFill>
          <a:blip r:embed="rId2"/>
          <a:srcRect l="29192" r="8739" b="1"/>
          <a:stretch/>
        </p:blipFill>
        <p:spPr>
          <a:xfrm>
            <a:off x="6096000" y="1"/>
            <a:ext cx="6102825" cy="6858000"/>
          </a:xfrm>
          <a:prstGeom prst="rect">
            <a:avLst/>
          </a:prstGeom>
        </p:spPr>
      </p:pic>
    </p:spTree>
    <p:extLst>
      <p:ext uri="{BB962C8B-B14F-4D97-AF65-F5344CB8AC3E}">
        <p14:creationId xmlns:p14="http://schemas.microsoft.com/office/powerpoint/2010/main" val="3449846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with blue bars&#10;&#10;AI-generated content may be incorrect.">
            <a:extLst>
              <a:ext uri="{FF2B5EF4-FFF2-40B4-BE49-F238E27FC236}">
                <a16:creationId xmlns:a16="http://schemas.microsoft.com/office/drawing/2014/main" id="{A5E88BA7-143C-BA35-84CA-41ECDA2251F8}"/>
              </a:ext>
            </a:extLst>
          </p:cNvPr>
          <p:cNvPicPr>
            <a:picLocks noChangeAspect="1"/>
          </p:cNvPicPr>
          <p:nvPr/>
        </p:nvPicPr>
        <p:blipFill>
          <a:blip r:embed="rId2"/>
          <a:stretch>
            <a:fillRect/>
          </a:stretch>
        </p:blipFill>
        <p:spPr>
          <a:xfrm>
            <a:off x="643467" y="1390534"/>
            <a:ext cx="5294716" cy="4076930"/>
          </a:xfrm>
          <a:prstGeom prst="rect">
            <a:avLst/>
          </a:prstGeom>
        </p:spPr>
      </p:pic>
      <p:cxnSp>
        <p:nvCxnSpPr>
          <p:cNvPr id="11" name="Straight Connector 10">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4" name="Content Placeholder 3" descr="A graph of blue bars&#10;&#10;AI-generated content may be incorrect.">
            <a:extLst>
              <a:ext uri="{FF2B5EF4-FFF2-40B4-BE49-F238E27FC236}">
                <a16:creationId xmlns:a16="http://schemas.microsoft.com/office/drawing/2014/main" id="{5298C9BB-C53D-B696-F221-02F89355EBA5}"/>
              </a:ext>
            </a:extLst>
          </p:cNvPr>
          <p:cNvPicPr>
            <a:picLocks noGrp="1" noChangeAspect="1"/>
          </p:cNvPicPr>
          <p:nvPr>
            <p:ph idx="4294967295"/>
          </p:nvPr>
        </p:nvPicPr>
        <p:blipFill>
          <a:blip r:embed="rId3"/>
          <a:stretch>
            <a:fillRect/>
          </a:stretch>
        </p:blipFill>
        <p:spPr>
          <a:xfrm>
            <a:off x="6253817" y="1383916"/>
            <a:ext cx="5294715" cy="4090167"/>
          </a:xfrm>
          <a:prstGeom prst="rect">
            <a:avLst/>
          </a:prstGeom>
        </p:spPr>
      </p:pic>
    </p:spTree>
    <p:extLst>
      <p:ext uri="{BB962C8B-B14F-4D97-AF65-F5344CB8AC3E}">
        <p14:creationId xmlns:p14="http://schemas.microsoft.com/office/powerpoint/2010/main" val="812621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FCEBEE-5075-CB46-7BC1-EE7841C6A7BF}"/>
              </a:ext>
            </a:extLst>
          </p:cNvPr>
          <p:cNvSpPr>
            <a:spLocks noGrp="1"/>
          </p:cNvSpPr>
          <p:nvPr>
            <p:ph type="title"/>
          </p:nvPr>
        </p:nvSpPr>
        <p:spPr>
          <a:xfrm>
            <a:off x="630936" y="639520"/>
            <a:ext cx="3429000" cy="1719072"/>
          </a:xfrm>
        </p:spPr>
        <p:txBody>
          <a:bodyPr anchor="b">
            <a:normAutofit/>
          </a:bodyPr>
          <a:lstStyle/>
          <a:p>
            <a:r>
              <a:rPr lang="en-US" sz="3800"/>
              <a:t>Our Data – Key Plots-What We Learnt</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9E3AF7D-4123-1116-BB8C-668F6F512995}"/>
              </a:ext>
            </a:extLst>
          </p:cNvPr>
          <p:cNvSpPr>
            <a:spLocks noGrp="1"/>
          </p:cNvSpPr>
          <p:nvPr>
            <p:ph idx="1"/>
          </p:nvPr>
        </p:nvSpPr>
        <p:spPr>
          <a:xfrm>
            <a:off x="630936" y="2807208"/>
            <a:ext cx="3429000" cy="3410712"/>
          </a:xfrm>
        </p:spPr>
        <p:txBody>
          <a:bodyPr anchor="t">
            <a:normAutofit/>
          </a:bodyPr>
          <a:lstStyle/>
          <a:p>
            <a:r>
              <a:rPr lang="en-US" sz="2200" dirty="0"/>
              <a:t>We also made of plot with the Airline and the number of flights they had which we could use later to see if there is any correlation with Airline and other factors</a:t>
            </a:r>
          </a:p>
          <a:p>
            <a:r>
              <a:rPr lang="en-US" sz="2200" dirty="0"/>
              <a:t>Southwest had to most flights </a:t>
            </a:r>
          </a:p>
        </p:txBody>
      </p:sp>
      <p:pic>
        <p:nvPicPr>
          <p:cNvPr id="5" name="Picture 4">
            <a:extLst>
              <a:ext uri="{FF2B5EF4-FFF2-40B4-BE49-F238E27FC236}">
                <a16:creationId xmlns:a16="http://schemas.microsoft.com/office/drawing/2014/main" id="{AF535171-43F5-6A71-2C75-802AC7613ADA}"/>
              </a:ext>
            </a:extLst>
          </p:cNvPr>
          <p:cNvPicPr>
            <a:picLocks noChangeAspect="1"/>
          </p:cNvPicPr>
          <p:nvPr/>
        </p:nvPicPr>
        <p:blipFill>
          <a:blip r:embed="rId2"/>
          <a:stretch>
            <a:fillRect/>
          </a:stretch>
        </p:blipFill>
        <p:spPr>
          <a:xfrm>
            <a:off x="4654296" y="1193921"/>
            <a:ext cx="6903720" cy="4470157"/>
          </a:xfrm>
          <a:prstGeom prst="rect">
            <a:avLst/>
          </a:prstGeom>
        </p:spPr>
      </p:pic>
    </p:spTree>
    <p:extLst>
      <p:ext uri="{BB962C8B-B14F-4D97-AF65-F5344CB8AC3E}">
        <p14:creationId xmlns:p14="http://schemas.microsoft.com/office/powerpoint/2010/main" val="3610319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7FB725-0160-20EA-8A30-09959481F0CE}"/>
              </a:ext>
            </a:extLst>
          </p:cNvPr>
          <p:cNvSpPr>
            <a:spLocks noGrp="1"/>
          </p:cNvSpPr>
          <p:nvPr>
            <p:ph type="title"/>
          </p:nvPr>
        </p:nvSpPr>
        <p:spPr>
          <a:xfrm>
            <a:off x="630936" y="640080"/>
            <a:ext cx="4818888" cy="1481328"/>
          </a:xfrm>
        </p:spPr>
        <p:txBody>
          <a:bodyPr anchor="b">
            <a:normAutofit fontScale="90000"/>
          </a:bodyPr>
          <a:lstStyle/>
          <a:p>
            <a:r>
              <a:rPr lang="en-US" sz="5000" dirty="0"/>
              <a:t>Our Data – Key Plots- What we Learnt</a:t>
            </a:r>
          </a:p>
        </p:txBody>
      </p:sp>
      <p:sp>
        <p:nvSpPr>
          <p:cNvPr id="1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3998593-F74F-E3D7-E972-830E9265DDC6}"/>
              </a:ext>
            </a:extLst>
          </p:cNvPr>
          <p:cNvSpPr>
            <a:spLocks noGrp="1"/>
          </p:cNvSpPr>
          <p:nvPr>
            <p:ph idx="1"/>
          </p:nvPr>
        </p:nvSpPr>
        <p:spPr>
          <a:xfrm>
            <a:off x="630936" y="2660904"/>
            <a:ext cx="4818888" cy="3547872"/>
          </a:xfrm>
        </p:spPr>
        <p:txBody>
          <a:bodyPr anchor="t">
            <a:normAutofit fontScale="92500"/>
          </a:bodyPr>
          <a:lstStyle/>
          <a:p>
            <a:r>
              <a:rPr lang="en-US" sz="2200" dirty="0"/>
              <a:t>We made a bar plot to visualize the distribution of  Average Flight Delays by time of day and saw that the times with the longest average flight delays where between 7pm-10pm with the longest being at 9pm.</a:t>
            </a:r>
          </a:p>
          <a:p>
            <a:r>
              <a:rPr lang="en-US" sz="2200" dirty="0"/>
              <a:t>Therefore, we concluded that at night is where the flight delays are longest.</a:t>
            </a:r>
          </a:p>
          <a:p>
            <a:r>
              <a:rPr lang="en-US" sz="2200" dirty="0"/>
              <a:t>We also saw that from around 5am the average time of delays gradually starts rising until the night.</a:t>
            </a:r>
          </a:p>
        </p:txBody>
      </p:sp>
      <p:pic>
        <p:nvPicPr>
          <p:cNvPr id="5" name="Picture 4" descr="A graph with blue bars&#10;&#10;AI-generated content may be incorrect.">
            <a:extLst>
              <a:ext uri="{FF2B5EF4-FFF2-40B4-BE49-F238E27FC236}">
                <a16:creationId xmlns:a16="http://schemas.microsoft.com/office/drawing/2014/main" id="{B722F163-4D41-F0DE-84A4-A41F044DA536}"/>
              </a:ext>
            </a:extLst>
          </p:cNvPr>
          <p:cNvPicPr>
            <a:picLocks noChangeAspect="1"/>
          </p:cNvPicPr>
          <p:nvPr/>
        </p:nvPicPr>
        <p:blipFill>
          <a:blip r:embed="rId2"/>
          <a:stretch>
            <a:fillRect/>
          </a:stretch>
        </p:blipFill>
        <p:spPr>
          <a:xfrm>
            <a:off x="6099048" y="1409182"/>
            <a:ext cx="5458968" cy="4039636"/>
          </a:xfrm>
          <a:prstGeom prst="rect">
            <a:avLst/>
          </a:prstGeom>
        </p:spPr>
      </p:pic>
      <p:sp>
        <p:nvSpPr>
          <p:cNvPr id="6" name="Arrow: Down 5">
            <a:extLst>
              <a:ext uri="{FF2B5EF4-FFF2-40B4-BE49-F238E27FC236}">
                <a16:creationId xmlns:a16="http://schemas.microsoft.com/office/drawing/2014/main" id="{50717B1F-41A9-190C-E4D2-4E357FBA5DBB}"/>
              </a:ext>
            </a:extLst>
          </p:cNvPr>
          <p:cNvSpPr/>
          <p:nvPr/>
        </p:nvSpPr>
        <p:spPr>
          <a:xfrm>
            <a:off x="10496145" y="640080"/>
            <a:ext cx="612842" cy="2152926"/>
          </a:xfrm>
          <a:prstGeom prst="down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5854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02C283-ED21-3BA5-0E3A-6F715FE1C250}"/>
              </a:ext>
            </a:extLst>
          </p:cNvPr>
          <p:cNvSpPr>
            <a:spLocks noGrp="1"/>
          </p:cNvSpPr>
          <p:nvPr>
            <p:ph type="title"/>
          </p:nvPr>
        </p:nvSpPr>
        <p:spPr>
          <a:xfrm>
            <a:off x="630936" y="640080"/>
            <a:ext cx="4818888" cy="1481328"/>
          </a:xfrm>
        </p:spPr>
        <p:txBody>
          <a:bodyPr anchor="b">
            <a:normAutofit/>
          </a:bodyPr>
          <a:lstStyle/>
          <a:p>
            <a:r>
              <a:rPr lang="en-US" sz="4200" dirty="0"/>
              <a:t>Our Data – Key Plots – What we Learnt</a:t>
            </a:r>
          </a:p>
        </p:txBody>
      </p:sp>
      <p:sp>
        <p:nvSpPr>
          <p:cNvPr id="19"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DC10B3A-2309-0AFA-4A59-0ED4E065635F}"/>
              </a:ext>
            </a:extLst>
          </p:cNvPr>
          <p:cNvSpPr>
            <a:spLocks noGrp="1"/>
          </p:cNvSpPr>
          <p:nvPr>
            <p:ph idx="1"/>
          </p:nvPr>
        </p:nvSpPr>
        <p:spPr>
          <a:xfrm>
            <a:off x="630936" y="2660904"/>
            <a:ext cx="4818888" cy="3547872"/>
          </a:xfrm>
        </p:spPr>
        <p:txBody>
          <a:bodyPr anchor="t">
            <a:normAutofit/>
          </a:bodyPr>
          <a:lstStyle/>
          <a:p>
            <a:r>
              <a:rPr lang="en-US" sz="1500"/>
              <a:t>We split the “DepDelayMinutes” column in 4 sub columns ranging with magnitude of time delay :</a:t>
            </a:r>
          </a:p>
          <a:p>
            <a:pPr marL="514350" indent="-514350">
              <a:buFont typeface="+mj-lt"/>
              <a:buAutoNum type="arabicPeriod"/>
            </a:pPr>
            <a:r>
              <a:rPr lang="en-US" sz="1500"/>
              <a:t>OnTime Early – No delay</a:t>
            </a:r>
          </a:p>
          <a:p>
            <a:pPr marL="514350" indent="-514350">
              <a:buFont typeface="+mj-lt"/>
              <a:buAutoNum type="arabicPeriod"/>
            </a:pPr>
            <a:r>
              <a:rPr lang="en-US" sz="1500"/>
              <a:t>Small Delay – Delay &lt;= 15 mins</a:t>
            </a:r>
          </a:p>
          <a:p>
            <a:pPr marL="514350" indent="-514350">
              <a:buFont typeface="+mj-lt"/>
              <a:buAutoNum type="arabicPeriod"/>
            </a:pPr>
            <a:r>
              <a:rPr lang="en-US" sz="1500"/>
              <a:t>Medium Delay – 15mins&lt; Delay &lt;= 45mins</a:t>
            </a:r>
          </a:p>
          <a:p>
            <a:pPr marL="514350" indent="-514350">
              <a:buFont typeface="+mj-lt"/>
              <a:buAutoNum type="arabicPeriod"/>
            </a:pPr>
            <a:r>
              <a:rPr lang="en-US" sz="1500"/>
              <a:t>Large Delay – Delay &gt; 45mins</a:t>
            </a:r>
          </a:p>
          <a:p>
            <a:r>
              <a:rPr lang="en-US" sz="1500"/>
              <a:t>The plot showed that most flights have no delay but from the flights that have a delay “Small Delay” was the most common although with not  a significant difference from the other two indicating that the probaility of each type of delay happening is similar – A great problem!</a:t>
            </a:r>
          </a:p>
        </p:txBody>
      </p:sp>
      <p:pic>
        <p:nvPicPr>
          <p:cNvPr id="5" name="Picture 4" descr="A screenshot of a computer&#10;&#10;AI-generated content may be incorrect.">
            <a:extLst>
              <a:ext uri="{FF2B5EF4-FFF2-40B4-BE49-F238E27FC236}">
                <a16:creationId xmlns:a16="http://schemas.microsoft.com/office/drawing/2014/main" id="{A519C5C0-8F25-FA4F-B1C2-23ECF68E9882}"/>
              </a:ext>
            </a:extLst>
          </p:cNvPr>
          <p:cNvPicPr>
            <a:picLocks noChangeAspect="1"/>
          </p:cNvPicPr>
          <p:nvPr/>
        </p:nvPicPr>
        <p:blipFill>
          <a:blip r:embed="rId2"/>
          <a:stretch>
            <a:fillRect/>
          </a:stretch>
        </p:blipFill>
        <p:spPr>
          <a:xfrm>
            <a:off x="6099048" y="1620717"/>
            <a:ext cx="5458968" cy="3616565"/>
          </a:xfrm>
          <a:prstGeom prst="rect">
            <a:avLst/>
          </a:prstGeom>
        </p:spPr>
      </p:pic>
    </p:spTree>
    <p:extLst>
      <p:ext uri="{BB962C8B-B14F-4D97-AF65-F5344CB8AC3E}">
        <p14:creationId xmlns:p14="http://schemas.microsoft.com/office/powerpoint/2010/main" val="1837703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239A0F-CA0E-1438-B7F0-554F4E9A21AE}"/>
              </a:ext>
            </a:extLst>
          </p:cNvPr>
          <p:cNvSpPr>
            <a:spLocks noGrp="1"/>
          </p:cNvSpPr>
          <p:nvPr>
            <p:ph type="title"/>
          </p:nvPr>
        </p:nvSpPr>
        <p:spPr>
          <a:xfrm>
            <a:off x="630936" y="640080"/>
            <a:ext cx="4818888" cy="1481328"/>
          </a:xfrm>
        </p:spPr>
        <p:txBody>
          <a:bodyPr anchor="b">
            <a:normAutofit/>
          </a:bodyPr>
          <a:lstStyle/>
          <a:p>
            <a:r>
              <a:rPr lang="en-US" sz="4200" dirty="0"/>
              <a:t>Our Data – Key Plots – What we Learnt</a:t>
            </a:r>
          </a:p>
        </p:txBody>
      </p:sp>
      <p:sp>
        <p:nvSpPr>
          <p:cNvPr id="1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3E7F29B-AE38-3C1F-DBFB-265628928E37}"/>
              </a:ext>
            </a:extLst>
          </p:cNvPr>
          <p:cNvSpPr>
            <a:spLocks noGrp="1"/>
          </p:cNvSpPr>
          <p:nvPr>
            <p:ph idx="1"/>
          </p:nvPr>
        </p:nvSpPr>
        <p:spPr>
          <a:xfrm>
            <a:off x="630936" y="2660904"/>
            <a:ext cx="4818888" cy="3547872"/>
          </a:xfrm>
        </p:spPr>
        <p:txBody>
          <a:bodyPr anchor="t">
            <a:normAutofit/>
          </a:bodyPr>
          <a:lstStyle/>
          <a:p>
            <a:r>
              <a:rPr lang="en-US" sz="2200"/>
              <a:t>Bar plot for average departure delay by Month</a:t>
            </a:r>
          </a:p>
          <a:p>
            <a:r>
              <a:rPr lang="en-US" sz="2200"/>
              <a:t>This plot was unsuccessful as through the plot we realised that our data didn’t have flights on all the months of the year.</a:t>
            </a:r>
          </a:p>
          <a:p>
            <a:r>
              <a:rPr lang="en-US" sz="2200"/>
              <a:t>However, it somewhat showed that the month doesn’t affect delays by a significant effect</a:t>
            </a:r>
          </a:p>
          <a:p>
            <a:endParaRPr lang="en-US" sz="2200"/>
          </a:p>
        </p:txBody>
      </p:sp>
      <p:pic>
        <p:nvPicPr>
          <p:cNvPr id="5" name="Picture 4" descr="A graph of blue rectangular bars&#10;&#10;AI-generated content may be incorrect.">
            <a:extLst>
              <a:ext uri="{FF2B5EF4-FFF2-40B4-BE49-F238E27FC236}">
                <a16:creationId xmlns:a16="http://schemas.microsoft.com/office/drawing/2014/main" id="{35E1B6D9-FF52-5CE4-1D7C-E0459A06FC21}"/>
              </a:ext>
            </a:extLst>
          </p:cNvPr>
          <p:cNvPicPr>
            <a:picLocks noChangeAspect="1"/>
          </p:cNvPicPr>
          <p:nvPr/>
        </p:nvPicPr>
        <p:blipFill>
          <a:blip r:embed="rId2"/>
          <a:stretch>
            <a:fillRect/>
          </a:stretch>
        </p:blipFill>
        <p:spPr>
          <a:xfrm>
            <a:off x="6099048" y="1750367"/>
            <a:ext cx="5458968" cy="3357265"/>
          </a:xfrm>
          <a:prstGeom prst="rect">
            <a:avLst/>
          </a:prstGeom>
        </p:spPr>
      </p:pic>
    </p:spTree>
    <p:extLst>
      <p:ext uri="{BB962C8B-B14F-4D97-AF65-F5344CB8AC3E}">
        <p14:creationId xmlns:p14="http://schemas.microsoft.com/office/powerpoint/2010/main" val="2650533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46F796-DFB0-C36C-82B2-9B4D246ED844}"/>
              </a:ext>
            </a:extLst>
          </p:cNvPr>
          <p:cNvSpPr>
            <a:spLocks noGrp="1"/>
          </p:cNvSpPr>
          <p:nvPr>
            <p:ph type="title"/>
          </p:nvPr>
        </p:nvSpPr>
        <p:spPr>
          <a:xfrm>
            <a:off x="800868" y="589788"/>
            <a:ext cx="4818888" cy="1481328"/>
          </a:xfrm>
        </p:spPr>
        <p:txBody>
          <a:bodyPr anchor="b">
            <a:normAutofit/>
          </a:bodyPr>
          <a:lstStyle/>
          <a:p>
            <a:r>
              <a:rPr lang="en-US" sz="4200" dirty="0"/>
              <a:t>Our Data – Key Plots – What we Learnt</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A79D7FB-4060-0397-BA55-1AA0593C0339}"/>
              </a:ext>
            </a:extLst>
          </p:cNvPr>
          <p:cNvSpPr>
            <a:spLocks noGrp="1"/>
          </p:cNvSpPr>
          <p:nvPr>
            <p:ph idx="1"/>
          </p:nvPr>
        </p:nvSpPr>
        <p:spPr>
          <a:xfrm>
            <a:off x="630936" y="2660904"/>
            <a:ext cx="4818888" cy="3547872"/>
          </a:xfrm>
        </p:spPr>
        <p:txBody>
          <a:bodyPr anchor="t">
            <a:normAutofit/>
          </a:bodyPr>
          <a:lstStyle/>
          <a:p>
            <a:r>
              <a:rPr lang="en-US" sz="2000"/>
              <a:t>Since the months was unsuccessful,  we split the data in days of the week.</a:t>
            </a:r>
          </a:p>
          <a:p>
            <a:r>
              <a:rPr lang="en-US" sz="2000"/>
              <a:t>The bar plot of showed that the weekend and Fridays had the longest delays on average we seems logical. </a:t>
            </a:r>
          </a:p>
          <a:p>
            <a:r>
              <a:rPr lang="en-US" sz="2000"/>
              <a:t>Friday had the longest delays and Tuesday the shortest.</a:t>
            </a:r>
          </a:p>
          <a:p>
            <a:r>
              <a:rPr lang="en-US" sz="2000"/>
              <a:t>Delay time rises from Tuesday until it reaches Friday and then starts to decrease again.</a:t>
            </a:r>
          </a:p>
          <a:p>
            <a:pPr marL="0" indent="0">
              <a:buNone/>
            </a:pPr>
            <a:endParaRPr lang="en-US" sz="2000"/>
          </a:p>
        </p:txBody>
      </p:sp>
      <p:pic>
        <p:nvPicPr>
          <p:cNvPr id="5" name="Picture 4">
            <a:extLst>
              <a:ext uri="{FF2B5EF4-FFF2-40B4-BE49-F238E27FC236}">
                <a16:creationId xmlns:a16="http://schemas.microsoft.com/office/drawing/2014/main" id="{ED6F8290-FAEF-B396-8194-E0979BB92E39}"/>
              </a:ext>
            </a:extLst>
          </p:cNvPr>
          <p:cNvPicPr>
            <a:picLocks noChangeAspect="1"/>
          </p:cNvPicPr>
          <p:nvPr/>
        </p:nvPicPr>
        <p:blipFill>
          <a:blip r:embed="rId2"/>
          <a:stretch>
            <a:fillRect/>
          </a:stretch>
        </p:blipFill>
        <p:spPr>
          <a:xfrm>
            <a:off x="6099048" y="1832252"/>
            <a:ext cx="5458968" cy="3193495"/>
          </a:xfrm>
          <a:prstGeom prst="rect">
            <a:avLst/>
          </a:prstGeom>
        </p:spPr>
      </p:pic>
    </p:spTree>
    <p:extLst>
      <p:ext uri="{BB962C8B-B14F-4D97-AF65-F5344CB8AC3E}">
        <p14:creationId xmlns:p14="http://schemas.microsoft.com/office/powerpoint/2010/main" val="1598413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7" name="Rectangle 410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373974-C4FE-3376-5684-A52AC26F74D9}"/>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Our Data – Key Plots – What we Learnt</a:t>
            </a:r>
          </a:p>
        </p:txBody>
      </p:sp>
      <p:sp>
        <p:nvSpPr>
          <p:cNvPr id="410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22DF32D-E713-AEDF-CDD9-5B277C5E8D04}"/>
              </a:ext>
            </a:extLst>
          </p:cNvPr>
          <p:cNvSpPr>
            <a:spLocks noGrp="1"/>
          </p:cNvSpPr>
          <p:nvPr>
            <p:ph sz="half" idx="1"/>
          </p:nvPr>
        </p:nvSpPr>
        <p:spPr>
          <a:xfrm>
            <a:off x="630936" y="2807208"/>
            <a:ext cx="3429000" cy="3410712"/>
          </a:xfrm>
        </p:spPr>
        <p:txBody>
          <a:bodyPr vert="horz" lIns="91440" tIns="45720" rIns="91440" bIns="45720" rtlCol="0" anchor="t">
            <a:normAutofit fontScale="92500" lnSpcReduction="20000"/>
          </a:bodyPr>
          <a:lstStyle/>
          <a:p>
            <a:r>
              <a:rPr lang="en-US" sz="2000" dirty="0"/>
              <a:t>Since weekends and Fridays had the greatest time delays we decided to sort our data into the three specified days to further examine the data and come to conclusions</a:t>
            </a:r>
          </a:p>
          <a:p>
            <a:r>
              <a:rPr lang="en-US" sz="2000" dirty="0"/>
              <a:t>We split our data in “Weekend” – Fri, Sat, Sun and “Not Weekend”- All other days</a:t>
            </a:r>
          </a:p>
          <a:p>
            <a:r>
              <a:rPr lang="en-US" sz="2000" dirty="0"/>
              <a:t>We then made a similar bar plot like before of time of  day and average delay to compare and see any other differences</a:t>
            </a:r>
          </a:p>
          <a:p>
            <a:endParaRPr lang="en-US" sz="2000" dirty="0"/>
          </a:p>
        </p:txBody>
      </p:sp>
      <p:pic>
        <p:nvPicPr>
          <p:cNvPr id="4098" name="Picture 2" descr="A person looking at a flight board&#10;&#10;AI-generated content may be incorrect.">
            <a:extLst>
              <a:ext uri="{FF2B5EF4-FFF2-40B4-BE49-F238E27FC236}">
                <a16:creationId xmlns:a16="http://schemas.microsoft.com/office/drawing/2014/main" id="{3BCBA104-CA4F-57B9-1F0D-7BD65551728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4654296" y="1127760"/>
            <a:ext cx="6903720" cy="4602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9708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6D48DF-62F8-03EF-B033-8DAC8B37A0FC}"/>
              </a:ext>
            </a:extLst>
          </p:cNvPr>
          <p:cNvSpPr>
            <a:spLocks noGrp="1"/>
          </p:cNvSpPr>
          <p:nvPr>
            <p:ph type="title"/>
          </p:nvPr>
        </p:nvSpPr>
        <p:spPr/>
        <p:txBody>
          <a:bodyPr>
            <a:normAutofit/>
          </a:bodyPr>
          <a:lstStyle/>
          <a:p>
            <a:r>
              <a:rPr lang="en-US" dirty="0"/>
              <a:t>“Weekend” vs “Not Weekend”</a:t>
            </a:r>
            <a:br>
              <a:rPr lang="en-US" dirty="0"/>
            </a:br>
            <a:endParaRPr lang="en-US" dirty="0"/>
          </a:p>
        </p:txBody>
      </p:sp>
      <p:sp>
        <p:nvSpPr>
          <p:cNvPr id="6" name="Text Placeholder 5">
            <a:extLst>
              <a:ext uri="{FF2B5EF4-FFF2-40B4-BE49-F238E27FC236}">
                <a16:creationId xmlns:a16="http://schemas.microsoft.com/office/drawing/2014/main" id="{F8A54063-93E4-D39A-D5E9-A366ABAC0338}"/>
              </a:ext>
            </a:extLst>
          </p:cNvPr>
          <p:cNvSpPr>
            <a:spLocks noGrp="1"/>
          </p:cNvSpPr>
          <p:nvPr>
            <p:ph type="body" idx="1"/>
          </p:nvPr>
        </p:nvSpPr>
        <p:spPr/>
        <p:txBody>
          <a:bodyPr/>
          <a:lstStyle/>
          <a:p>
            <a:r>
              <a:rPr lang="en-US" dirty="0"/>
              <a:t>Weekend</a:t>
            </a:r>
          </a:p>
        </p:txBody>
      </p:sp>
      <p:pic>
        <p:nvPicPr>
          <p:cNvPr id="11" name="Content Placeholder 10">
            <a:extLst>
              <a:ext uri="{FF2B5EF4-FFF2-40B4-BE49-F238E27FC236}">
                <a16:creationId xmlns:a16="http://schemas.microsoft.com/office/drawing/2014/main" id="{0CA44124-64F0-2B48-34F2-555E91EAE01D}"/>
              </a:ext>
            </a:extLst>
          </p:cNvPr>
          <p:cNvPicPr>
            <a:picLocks noGrp="1" noChangeAspect="1"/>
          </p:cNvPicPr>
          <p:nvPr>
            <p:ph sz="half" idx="2"/>
          </p:nvPr>
        </p:nvPicPr>
        <p:blipFill>
          <a:blip r:embed="rId2"/>
          <a:stretch>
            <a:fillRect/>
          </a:stretch>
        </p:blipFill>
        <p:spPr>
          <a:xfrm>
            <a:off x="839788" y="3054027"/>
            <a:ext cx="5157787" cy="2586684"/>
          </a:xfrm>
        </p:spPr>
      </p:pic>
      <p:sp>
        <p:nvSpPr>
          <p:cNvPr id="8" name="Text Placeholder 7">
            <a:extLst>
              <a:ext uri="{FF2B5EF4-FFF2-40B4-BE49-F238E27FC236}">
                <a16:creationId xmlns:a16="http://schemas.microsoft.com/office/drawing/2014/main" id="{E1026F19-6779-B684-947C-65F5B1A73421}"/>
              </a:ext>
            </a:extLst>
          </p:cNvPr>
          <p:cNvSpPr>
            <a:spLocks noGrp="1"/>
          </p:cNvSpPr>
          <p:nvPr>
            <p:ph type="body" sz="quarter" idx="3"/>
          </p:nvPr>
        </p:nvSpPr>
        <p:spPr/>
        <p:txBody>
          <a:bodyPr/>
          <a:lstStyle/>
          <a:p>
            <a:r>
              <a:rPr lang="en-US" dirty="0"/>
              <a:t>Not Weekend</a:t>
            </a:r>
          </a:p>
        </p:txBody>
      </p:sp>
      <p:pic>
        <p:nvPicPr>
          <p:cNvPr id="13" name="Content Placeholder 12">
            <a:extLst>
              <a:ext uri="{FF2B5EF4-FFF2-40B4-BE49-F238E27FC236}">
                <a16:creationId xmlns:a16="http://schemas.microsoft.com/office/drawing/2014/main" id="{3F418325-3A57-D559-5713-7B974DDB0A73}"/>
              </a:ext>
            </a:extLst>
          </p:cNvPr>
          <p:cNvPicPr>
            <a:picLocks noGrp="1" noChangeAspect="1"/>
          </p:cNvPicPr>
          <p:nvPr>
            <p:ph sz="quarter" idx="4"/>
          </p:nvPr>
        </p:nvPicPr>
        <p:blipFill>
          <a:blip r:embed="rId3"/>
          <a:stretch>
            <a:fillRect/>
          </a:stretch>
        </p:blipFill>
        <p:spPr>
          <a:xfrm>
            <a:off x="6172200" y="2975668"/>
            <a:ext cx="5183188" cy="2743402"/>
          </a:xfrm>
        </p:spPr>
      </p:pic>
      <p:sp>
        <p:nvSpPr>
          <p:cNvPr id="14" name="TextBox 13">
            <a:extLst>
              <a:ext uri="{FF2B5EF4-FFF2-40B4-BE49-F238E27FC236}">
                <a16:creationId xmlns:a16="http://schemas.microsoft.com/office/drawing/2014/main" id="{1D960ADD-97F7-4EA5-88E2-6188807A7B8D}"/>
              </a:ext>
            </a:extLst>
          </p:cNvPr>
          <p:cNvSpPr txBox="1"/>
          <p:nvPr/>
        </p:nvSpPr>
        <p:spPr>
          <a:xfrm>
            <a:off x="1274323" y="5865779"/>
            <a:ext cx="7500026" cy="923330"/>
          </a:xfrm>
          <a:prstGeom prst="rect">
            <a:avLst/>
          </a:prstGeom>
          <a:noFill/>
        </p:spPr>
        <p:txBody>
          <a:bodyPr wrap="square" rtlCol="0">
            <a:spAutoFit/>
          </a:bodyPr>
          <a:lstStyle/>
          <a:p>
            <a:r>
              <a:rPr lang="en-US" dirty="0"/>
              <a:t>Overall shape of two Bar charts looks the same however for weekend and Friday each time delay for the hour is of greater magnitude which was expected. Therefore, the day doesn’t affect the hour of delay that much</a:t>
            </a:r>
          </a:p>
        </p:txBody>
      </p:sp>
    </p:spTree>
    <p:extLst>
      <p:ext uri="{BB962C8B-B14F-4D97-AF65-F5344CB8AC3E}">
        <p14:creationId xmlns:p14="http://schemas.microsoft.com/office/powerpoint/2010/main" val="32643492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776</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Flight Delays-keeping travelers on time</vt:lpstr>
      <vt:lpstr>The Problem we are trying to solve</vt:lpstr>
      <vt:lpstr>The Problem we are trying to solve</vt:lpstr>
      <vt:lpstr>Our Data – Key Plots-What We Learnt</vt:lpstr>
      <vt:lpstr>PowerPoint Presentation</vt:lpstr>
      <vt:lpstr>Our Data – Key Plots-What We Learnt</vt:lpstr>
      <vt:lpstr>Our Data – Key Plots- What we Learnt</vt:lpstr>
      <vt:lpstr>Our Data – Key Plots – What we Learnt</vt:lpstr>
      <vt:lpstr>Our Data – Key Plots – What we Learnt</vt:lpstr>
      <vt:lpstr>Our Data – Key Plots – What we Learnt</vt:lpstr>
      <vt:lpstr>Our Data – Key Plots – What we Learnt</vt:lpstr>
      <vt:lpstr>“Weekend” vs “Not Weekend”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Dimitris Hatzis [Home]</dc:creator>
  <cp:lastModifiedBy>Dimitris Hatzis [Home]</cp:lastModifiedBy>
  <cp:revision>4</cp:revision>
  <dcterms:created xsi:type="dcterms:W3CDTF">2025-02-19T15:44:06Z</dcterms:created>
  <dcterms:modified xsi:type="dcterms:W3CDTF">2025-02-19T17:17:06Z</dcterms:modified>
</cp:coreProperties>
</file>